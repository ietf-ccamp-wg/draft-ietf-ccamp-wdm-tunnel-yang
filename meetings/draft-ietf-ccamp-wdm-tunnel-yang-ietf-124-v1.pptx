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2" r:id="rId2"/>
    <p:sldId id="295" r:id="rId3"/>
    <p:sldId id="310" r:id="rId4"/>
    <p:sldId id="315" r:id="rId5"/>
    <p:sldId id="314" r:id="rId6"/>
    <p:sldId id="311" r:id="rId7"/>
    <p:sldId id="308" r:id="rId8"/>
    <p:sldId id="316" r:id="rId9"/>
    <p:sldId id="317" r:id="rId10"/>
    <p:sldId id="312" r:id="rId11"/>
    <p:sldId id="33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7DDE03-A411-430B-FD33-DC4916F79F5B}" name="Aihua Guo" initials="AG" userId="S::aguo@futurewei.com::9549580f-6e87-4c1e-8dc9-3f8848a68c03" providerId="AD"/>
  <p188:author id="{67E6B120-DB7D-0D0F-FC0F-46467778386F}" name="Sergio Belotti (Nokia)" initials="SB(" userId="S::sergio.belotti@nokia.com::1405c469-425d-44df-9775-7098fb1a68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8AA37-9E67-4F2F-8498-FCED7F23386B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1371D-AD66-447D-B956-61AA1A0F5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389131-BBED-467B-BE2B-0F0AA298054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5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DA33-062C-40E9-AB6A-E7E1FDDDA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28F87-CDCE-4494-B090-300007831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F45E3-DA9F-4E7F-9690-F5F45572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B03B7-B505-4783-95CC-20368205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6464C-772C-4125-AF25-1FC2AC65E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05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0258A-28AB-43E4-B468-8F1C2DB55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D2D4F-22BD-4E5C-8CE5-2B3967EB2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1219A-2E29-4EEE-ABDD-FD97EC6F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FC48B-956E-431A-910C-3D5BDE80F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B56AD-C3BF-4728-9B77-4FBD63F75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9714-9B76-41F5-882B-9C5718A2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E7289-CC3F-4401-AC0E-8A0E3198C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94E56-37D9-4332-9807-65B16401B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C5654-88BF-4D2C-B604-1C2FB5B3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DCC39-D582-43DF-BA42-DED25ADE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7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E13E-4979-4B49-9D5F-91EA633E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F4BC-960D-4705-BE75-10CD4467E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8D28D-5118-4694-8B42-11A8A5BBE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6830E-1EAC-431B-AD08-5993F416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8A403-3CA4-4DEE-AB53-47C16026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EF08F-5983-41E2-85A8-C2B1466EA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23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A4CC3-3248-4791-BB83-D056295D9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D9D60-2AF2-48CF-8F3D-C6BB7D2CC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B556C-66BF-4B61-85BD-6E0EB6BCE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8005D-B7D1-4E54-BEC5-745EF27B5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723A2-DF89-4B2B-A584-F1B335447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56E71-A544-4E37-9E57-6BFCCF5F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C13AB-C57B-4585-A896-56C0316B7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B2A4C-A676-4618-B76A-BF97B957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54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FA2E9-1BC1-4593-A981-3131745F6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1729D-6FF2-4D05-89E0-F18158F7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60280-4F11-4439-8963-33989D16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B2833-A40F-4353-ACAF-87A21ADD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DB664-4153-4589-9705-2CEE082F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5EA70-7693-4C7D-B0BF-94FCADB5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5E44C-0192-4E3C-BDFB-FDCEB299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4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63D1-FE0B-4B60-B838-BE95F08B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F0793-B6F5-4A32-973C-15E04BE8B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B8CAB-2B23-4B54-B43C-898D9B972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1B73A-8599-47A7-B170-7C804FAF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ED2E4-7213-456E-B7D8-B88F0E80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D2527-41B4-4E73-8867-8A4776BF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4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62E8-CE5E-448C-8721-4CC11A392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E1C762-D150-426F-805F-C1BB57CFC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FCB50-DDB5-4D85-88E5-73F442552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E07A5-777B-44BF-9A8D-5606E883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30A23-2FD0-40EE-B2D5-3C53437F7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52602-4FCF-476D-99AE-4840AA22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0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E5D5-0FDD-4E21-B7A6-236CAE52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E6253-4EB1-4DF4-9B33-87FA83FD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D3B4E-48EF-4D96-90F8-28A7E2397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4CAF4-6E4B-4DAC-9A56-915A36C0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72B7-A663-4BEC-99B1-EFD03554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4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03D14-208D-47CD-8257-BB1574247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D922D-DFE7-4195-A268-ADF970344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1FD06-F97F-4A8E-99A2-C559B8C8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AA993-A8A3-4623-BFCD-8997A9F4A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6DC2-1D85-43E6-A9DE-8B015716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6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488E8D-80AA-4289-8CF6-797DC5AA3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DE431-C7E9-4DA4-A623-F214DA6FE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0579-DA1C-42C1-98C0-5EC9171E5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CF770-114E-4BF1-8642-F870EE0E08A8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2F624-1E5E-4B40-ACEE-18AD1911C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07D6E-66A2-4D5F-AF42-706A38AD4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91435-F2FF-4A2E-9510-278D0336C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0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etf-ccamp-wg/draft-ietf-ccamp-wdm-tunnel-yang/issues/2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etf.webex.com/ietf/j.php?MTID=ma1ca3bcec716fe1ff93e0a28b3558294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B14AC5-E6AF-4C76-9CB3-949ACC0FE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8859"/>
            <a:ext cx="9144000" cy="1645330"/>
          </a:xfrm>
        </p:spPr>
        <p:txBody>
          <a:bodyPr anchor="t" anchorCtr="1">
            <a:normAutofit/>
          </a:bodyPr>
          <a:lstStyle/>
          <a:p>
            <a:pPr>
              <a:spcBef>
                <a:spcPts val="0"/>
              </a:spcBef>
            </a:pPr>
            <a:r>
              <a:rPr lang="en-US" sz="4000" b="1" dirty="0"/>
              <a:t>A YANG Data Model for WDM Tunnels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E12729-D209-49D9-9E7C-3590C68E9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9069" y="2591046"/>
            <a:ext cx="3615491" cy="3936093"/>
          </a:xfrm>
        </p:spPr>
        <p:txBody>
          <a:bodyPr>
            <a:noAutofit/>
          </a:bodyPr>
          <a:lstStyle/>
          <a:p>
            <a:pPr algn="l">
              <a:spcBef>
                <a:spcPts val="300"/>
              </a:spcBef>
            </a:pPr>
            <a:r>
              <a:rPr lang="en-US" sz="1900" dirty="0"/>
              <a:t>Co-authors:</a:t>
            </a:r>
          </a:p>
          <a:p>
            <a:pPr algn="l">
              <a:spcBef>
                <a:spcPts val="300"/>
              </a:spcBef>
            </a:pPr>
            <a:r>
              <a:rPr lang="en-US" sz="1900" b="1" dirty="0"/>
              <a:t>Aihua Guo (Futurewei)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Sergio </a:t>
            </a:r>
            <a:r>
              <a:rPr lang="en-US" sz="1900" dirty="0" err="1"/>
              <a:t>Belotti</a:t>
            </a:r>
            <a:r>
              <a:rPr lang="en-US" sz="1900" dirty="0"/>
              <a:t> (Nokia)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G. </a:t>
            </a:r>
            <a:r>
              <a:rPr lang="en-US" sz="1900" dirty="0" err="1"/>
              <a:t>Galimberti</a:t>
            </a:r>
            <a:r>
              <a:rPr lang="en-US" sz="1900" dirty="0"/>
              <a:t> (Individual)</a:t>
            </a:r>
          </a:p>
          <a:p>
            <a:pPr algn="l">
              <a:spcBef>
                <a:spcPts val="300"/>
              </a:spcBef>
            </a:pPr>
            <a:r>
              <a:rPr lang="en-US" sz="1900" dirty="0" err="1"/>
              <a:t>J.E.L.d.V</a:t>
            </a:r>
            <a:r>
              <a:rPr lang="en-US" sz="1900" dirty="0"/>
              <a:t>. Mendez (</a:t>
            </a:r>
            <a:r>
              <a:rPr lang="en-US" sz="1900" dirty="0" err="1"/>
              <a:t>Naudit</a:t>
            </a:r>
            <a:r>
              <a:rPr lang="en-US" sz="1900" dirty="0"/>
              <a:t> HPCN)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D.P. </a:t>
            </a:r>
            <a:r>
              <a:rPr lang="en-US" sz="1900" dirty="0" err="1"/>
              <a:t>Burrero</a:t>
            </a:r>
            <a:r>
              <a:rPr lang="en-US" sz="1900" dirty="0"/>
              <a:t> (Universidad </a:t>
            </a:r>
            <a:r>
              <a:rPr lang="en-US" sz="1900" dirty="0" err="1"/>
              <a:t>Autonoma</a:t>
            </a:r>
            <a:r>
              <a:rPr lang="en-US" sz="1900" dirty="0"/>
              <a:t> de Madrid)</a:t>
            </a:r>
          </a:p>
          <a:p>
            <a:pPr algn="l">
              <a:spcBef>
                <a:spcPts val="300"/>
              </a:spcBef>
            </a:pPr>
            <a:endParaRPr lang="en-US" sz="1900" dirty="0"/>
          </a:p>
          <a:p>
            <a:pPr algn="l">
              <a:spcBef>
                <a:spcPts val="300"/>
              </a:spcBef>
            </a:pPr>
            <a:r>
              <a:rPr lang="en-US" sz="1900" dirty="0"/>
              <a:t>Contributors: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Daniel King (</a:t>
            </a:r>
            <a:r>
              <a:rPr lang="en-US" sz="1900" dirty="0" err="1"/>
              <a:t>Olddog</a:t>
            </a:r>
            <a:r>
              <a:rPr lang="en-US" sz="1900" dirty="0"/>
              <a:t> Consulting)</a:t>
            </a:r>
          </a:p>
          <a:p>
            <a:pPr algn="l">
              <a:spcBef>
                <a:spcPts val="300"/>
              </a:spcBef>
            </a:pPr>
            <a:r>
              <a:rPr lang="en-US" sz="1900" dirty="0" err="1"/>
              <a:t>Haomian</a:t>
            </a:r>
            <a:r>
              <a:rPr lang="en-US" sz="1900" dirty="0"/>
              <a:t> Zheng (Huawei)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Italo </a:t>
            </a:r>
            <a:r>
              <a:rPr lang="en-US" sz="1900" dirty="0" err="1"/>
              <a:t>Busi</a:t>
            </a:r>
            <a:r>
              <a:rPr lang="en-US" sz="1900" dirty="0"/>
              <a:t> (Huawei)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Victor Lopez (Nokia)</a:t>
            </a:r>
          </a:p>
          <a:p>
            <a:pPr algn="l">
              <a:spcBef>
                <a:spcPts val="300"/>
              </a:spcBef>
            </a:pPr>
            <a:endParaRPr lang="en-US" sz="19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2F80EB8-8DC8-4CA5-8090-B8E097E5008E}"/>
              </a:ext>
            </a:extLst>
          </p:cNvPr>
          <p:cNvSpPr txBox="1">
            <a:spLocks/>
          </p:cNvSpPr>
          <p:nvPr/>
        </p:nvSpPr>
        <p:spPr>
          <a:xfrm>
            <a:off x="1432560" y="1702363"/>
            <a:ext cx="9144000" cy="791825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3200" dirty="0">
                <a:latin typeface="+mn-lt"/>
              </a:rPr>
              <a:t>draft-ietf-ccamp-wdm-tunnel-yang-06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0" y="2541434"/>
            <a:ext cx="6030044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lang="en-US" sz="1900" dirty="0"/>
              <a:t>Contributors: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Dieter </a:t>
            </a:r>
            <a:r>
              <a:rPr lang="en-US" sz="1900" dirty="0" err="1"/>
              <a:t>Beller</a:t>
            </a:r>
            <a:r>
              <a:rPr lang="en-US" sz="1900" dirty="0"/>
              <a:t> (Nokia)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Ricard </a:t>
            </a:r>
            <a:r>
              <a:rPr lang="en-US" sz="1900" dirty="0" err="1"/>
              <a:t>Vilalta</a:t>
            </a:r>
            <a:r>
              <a:rPr lang="en-US" sz="1900" dirty="0"/>
              <a:t> (CTTC)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Young Lee (Samsung)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Bin Yeong Yoon (ETRI)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Daniel Michaud </a:t>
            </a:r>
            <a:r>
              <a:rPr lang="en-US" sz="1900" dirty="0" err="1"/>
              <a:t>Vallinoto</a:t>
            </a:r>
            <a:r>
              <a:rPr lang="en-US" sz="1900" dirty="0"/>
              <a:t> (Universidad </a:t>
            </a:r>
            <a:r>
              <a:rPr lang="en-US" sz="1900" dirty="0" err="1"/>
              <a:t>Autonoma</a:t>
            </a:r>
            <a:r>
              <a:rPr lang="en-US" sz="1900" dirty="0"/>
              <a:t> de Madrid)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Zafar Ali (Cisco)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Esther Le </a:t>
            </a:r>
            <a:r>
              <a:rPr lang="en-US" sz="1900" dirty="0" err="1"/>
              <a:t>Rouzic</a:t>
            </a:r>
            <a:r>
              <a:rPr lang="en-US" sz="1900" dirty="0"/>
              <a:t> (Orange)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Julien </a:t>
            </a:r>
            <a:r>
              <a:rPr lang="en-US" sz="1900" dirty="0" err="1"/>
              <a:t>Meuric</a:t>
            </a:r>
            <a:r>
              <a:rPr lang="en-US" sz="1900" dirty="0"/>
              <a:t> (Orange)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Gert </a:t>
            </a:r>
            <a:r>
              <a:rPr lang="en-US" sz="1900" dirty="0" err="1"/>
              <a:t>Grammel</a:t>
            </a:r>
            <a:r>
              <a:rPr lang="en-US" sz="1900" dirty="0"/>
              <a:t> (Juniper)</a:t>
            </a:r>
          </a:p>
          <a:p>
            <a:pPr algn="l">
              <a:spcBef>
                <a:spcPts val="300"/>
              </a:spcBef>
            </a:pPr>
            <a:r>
              <a:rPr lang="en-US" sz="1900" dirty="0"/>
              <a:t>Roberto </a:t>
            </a:r>
            <a:r>
              <a:rPr lang="en-US" sz="1900" dirty="0" err="1"/>
              <a:t>Manzotti</a:t>
            </a:r>
            <a:r>
              <a:rPr lang="en-US" sz="1900" dirty="0"/>
              <a:t> (Cisco)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1AE12729-D209-49D9-9E7C-3590C68E9DCE}"/>
              </a:ext>
            </a:extLst>
          </p:cNvPr>
          <p:cNvSpPr txBox="1">
            <a:spLocks/>
          </p:cNvSpPr>
          <p:nvPr/>
        </p:nvSpPr>
        <p:spPr>
          <a:xfrm>
            <a:off x="6096000" y="3371353"/>
            <a:ext cx="3202625" cy="1995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300"/>
              </a:spcBef>
            </a:pPr>
            <a:endParaRPr lang="en-US" sz="1900" dirty="0"/>
          </a:p>
          <a:p>
            <a:pPr algn="l">
              <a:spcBef>
                <a:spcPts val="300"/>
              </a:spcBef>
            </a:pPr>
            <a:endParaRPr lang="en-US" sz="1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2087A0-45AB-5C55-7E6D-CAE2C79E6487}"/>
              </a:ext>
            </a:extLst>
          </p:cNvPr>
          <p:cNvSpPr txBox="1"/>
          <p:nvPr/>
        </p:nvSpPr>
        <p:spPr>
          <a:xfrm>
            <a:off x="245226" y="6412349"/>
            <a:ext cx="22125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sz="1800" dirty="0">
                <a:latin typeface="+mn-lt"/>
              </a:rPr>
              <a:t>IETF 124</a:t>
            </a:r>
            <a:r>
              <a:rPr lang="en-US" sz="1800">
                <a:latin typeface="+mn-lt"/>
              </a:rPr>
              <a:t>, Montreal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554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7339-6FC3-A47F-0929-339F67C8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 of Updates in -05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581D2-C4DD-7342-1385-1B272B70B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YANG model updates</a:t>
            </a:r>
          </a:p>
          <a:p>
            <a:pPr lvl="1"/>
            <a:r>
              <a:rPr lang="en-GB" dirty="0"/>
              <a:t>Aligned with the latest WG LC changes for rfc9093-bis</a:t>
            </a:r>
          </a:p>
          <a:p>
            <a:pPr lvl="1"/>
            <a:r>
              <a:rPr lang="en-GB" dirty="0"/>
              <a:t>Updated model for regenerators reflecting the resolution of L0/L1 boundary scenarios</a:t>
            </a:r>
          </a:p>
          <a:p>
            <a:pPr lvl="2"/>
            <a:r>
              <a:rPr lang="en-GB" dirty="0"/>
              <a:t>Support back-to-back and </a:t>
            </a:r>
            <a:r>
              <a:rPr lang="en-GB" dirty="0" err="1"/>
              <a:t>uni</a:t>
            </a:r>
            <a:r>
              <a:rPr lang="en-GB" dirty="0"/>
              <a:t>-directional regenerators</a:t>
            </a:r>
          </a:p>
          <a:p>
            <a:pPr lvl="2"/>
            <a:r>
              <a:rPr lang="en-GB" dirty="0"/>
              <a:t>Support single or multiple-transponder pairs as regenerator(s), single or multi-carrier</a:t>
            </a:r>
          </a:p>
          <a:p>
            <a:pPr lvl="2"/>
            <a:r>
              <a:rPr lang="en-US" dirty="0"/>
              <a:t>Defined base identity for regeneration layer, digital layer mapping/termination (with order) and inverse multiplexing</a:t>
            </a:r>
          </a:p>
          <a:p>
            <a:pPr lvl="2"/>
            <a:r>
              <a:rPr lang="en-GB" dirty="0"/>
              <a:t>Matching digital mapping between source/destination/regenerator</a:t>
            </a:r>
          </a:p>
          <a:p>
            <a:pPr lvl="1"/>
            <a:endParaRPr lang="en-GB" dirty="0"/>
          </a:p>
          <a:p>
            <a:r>
              <a:rPr lang="en-GB" dirty="0"/>
              <a:t>Text updates</a:t>
            </a:r>
          </a:p>
          <a:p>
            <a:pPr lvl="1"/>
            <a:r>
              <a:rPr lang="en-GB" dirty="0"/>
              <a:t>Added text for 3R regenerators</a:t>
            </a:r>
          </a:p>
          <a:p>
            <a:pPr lvl="2"/>
            <a:r>
              <a:rPr lang="en-GB" dirty="0"/>
              <a:t>3R regenerator scenarios (also referencing the definition from rfc9093-bis)</a:t>
            </a:r>
          </a:p>
          <a:p>
            <a:pPr lvl="2"/>
            <a:r>
              <a:rPr lang="en-GB" dirty="0"/>
              <a:t>Added definition of some terminologies to facilitate modelling, e.g., incoming and outgoing transponders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949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2179F-9838-9040-4E2A-D5457189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A1EBC-4F30-E50A-9116-2E0C003C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Issues &amp; Ongoing discussion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67ABE3-32D0-807B-5F2A-57E26FAAC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202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Address </a:t>
            </a:r>
            <a:r>
              <a:rPr lang="en-US" dirty="0" err="1"/>
              <a:t>Rtgdir</a:t>
            </a:r>
            <a:r>
              <a:rPr lang="en-US" dirty="0"/>
              <a:t> and YANG Doctor review comments (#74, #76)</a:t>
            </a:r>
          </a:p>
          <a:p>
            <a:r>
              <a:rPr lang="en-US" dirty="0"/>
              <a:t>Improve the text on the WDM tunnel provisioning steps</a:t>
            </a:r>
            <a:endParaRPr lang="en-GB" dirty="0"/>
          </a:p>
          <a:p>
            <a:r>
              <a:rPr lang="en-US" dirty="0"/>
              <a:t>Need a diagram to illustrate the relationship between this model, the optical impairment , RFC 9093 bis, optical path computation</a:t>
            </a:r>
            <a:r>
              <a:rPr lang="en-US" dirty="0">
                <a:solidFill>
                  <a:srgbClr val="FF0000"/>
                </a:solidFill>
                <a:hlinkClick r:id="rId2"/>
              </a:rPr>
              <a:t>.(#25)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Provide the identity definitions for regeneration layer, digital layer mapping/termination (with order) and inverse multiplexing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GB" dirty="0"/>
              <a:t>Consider defining optical layer-specific operations (RPCs), for example automatic power equalization, that are application to a WDM tunnel</a:t>
            </a:r>
          </a:p>
          <a:p>
            <a:r>
              <a:rPr lang="en-US" dirty="0"/>
              <a:t>Related work in CCAMP may require additional changes to this draft</a:t>
            </a:r>
          </a:p>
          <a:p>
            <a:pPr lvl="1"/>
            <a:r>
              <a:rPr lang="en-US" dirty="0"/>
              <a:t>WDM path computation</a:t>
            </a:r>
          </a:p>
          <a:p>
            <a:pPr lvl="1"/>
            <a:r>
              <a:rPr lang="en-US" dirty="0"/>
              <a:t>Ongoing work on pluggable management &amp; control, including the gap analysis and use cases documents, may require additional changes to the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307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BE9-006F-C2A0-7BDB-402E4438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9F3DB-EDA4-E284-8520-8565EC53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“Incoming” and “Outgoing” Transponder in Regenerator Scenarios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B68C14-B2A7-8678-E6DB-C945F2886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5" y="2095934"/>
            <a:ext cx="5591804" cy="2954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1E6C33-20B5-31B3-2A92-86B91641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90688"/>
            <a:ext cx="5167745" cy="490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7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81823-3B8D-082C-CAA2-960A651F2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C731-843C-EC3A-5B09-BD3C7731A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1353800" cy="924179"/>
          </a:xfrm>
        </p:spPr>
        <p:txBody>
          <a:bodyPr>
            <a:normAutofit/>
          </a:bodyPr>
          <a:lstStyle/>
          <a:p>
            <a:r>
              <a:rPr lang="en-US" sz="2800" b="1" dirty="0"/>
              <a:t>Consistent Transponder Configurations at Source, Destination and Regenerator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65D49E-5530-FFFB-B1C9-8DA49AC107A7}"/>
              </a:ext>
            </a:extLst>
          </p:cNvPr>
          <p:cNvSpPr txBox="1"/>
          <p:nvPr/>
        </p:nvSpPr>
        <p:spPr>
          <a:xfrm>
            <a:off x="82296" y="1211565"/>
            <a:ext cx="43708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(node-position)?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+--:</a:t>
            </a:r>
            <a:r>
              <a:rPr lang="en-US" sz="9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(source) or (destination)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source-transponder (or destination-transponder)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transponder-id?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digital-terminations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digital-termination* [index]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index               uint8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termination-type?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mapping-type?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transceiver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transceiver-id?      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-carrier-id?              uint16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-carrier-frequency?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|       l0-types:frequency-thz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|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operational-mode?             string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line-coding-bitrate?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preferred-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|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gsnr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-extra-margin?            snr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inverse-multiplexing!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inverse-mux-type?   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-lane-termination-type?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additional-transceivers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index?                    uint8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transceiver-id?  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-carrier-id?          uint16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-carrier-frequency?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|       l0-types:frequency-thz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|                      l0-types:power-dbm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E234F-04BA-E25B-2DF7-18852647D0C0}"/>
              </a:ext>
            </a:extLst>
          </p:cNvPr>
          <p:cNvSpPr txBox="1"/>
          <p:nvPr/>
        </p:nvSpPr>
        <p:spPr>
          <a:xfrm>
            <a:off x="4322064" y="1211565"/>
            <a:ext cx="443788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+--:</a:t>
            </a:r>
            <a:r>
              <a:rPr lang="en-US" sz="9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(regenerator)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regenerator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regen-group-id?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regeneration-layer?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incoming-transponder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transponder-id?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digital-terminations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digital-termination* [index]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index               uint8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termination-type?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mapping-type?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transceiver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transceiver-id?      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-carrier-id?              uint16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-carrier-frequency?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|       l0-types:frequency-thz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|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operational-mode?             string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line-coding-bitrate?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preferred-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|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gsnr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-extra-margin?            snr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inverse-multiplexing!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inverse-mux-type?   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-lane-termination-type?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additional-transceivers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index?                    uint8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transceiver-id?  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-carrier-id?          uint16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-carrier-frequency?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|       l0-types:frequency-thz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|            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outgoing-transponder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(same structure as incoming-transponder)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104F3-DAFF-AA1C-4992-CE7400F83527}"/>
              </a:ext>
            </a:extLst>
          </p:cNvPr>
          <p:cNvSpPr txBox="1"/>
          <p:nvPr/>
        </p:nvSpPr>
        <p:spPr>
          <a:xfrm>
            <a:off x="8257032" y="1211565"/>
            <a:ext cx="400812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</a:p>
          <a:p>
            <a:r>
              <a:rPr lang="en-US" sz="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+--:</a:t>
            </a:r>
            <a:r>
              <a:rPr lang="en-US" sz="9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(regenerators)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regenerators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common-incoming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operational-mode?             string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line-coding-bitrate?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preferred-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|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gsnr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-extra-margin?            snr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common-outgoing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operational-mode?             string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line-coding-bitrate?     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preferred-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|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gsnr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-extra-margin?            snr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regenerator* [index]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index                   uint8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regen-group-id?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regeneration-layer?    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identityref</a:t>
            </a:r>
            <a:endParaRPr lang="en-US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incoming-transponder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transponder-id?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transceiver-id?  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-carrier-id?          uint16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-carrier-frequency?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   |       l0-types:frequency-thz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|             l0-types:power-dbm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outgoing-transponder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transponder-id?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transceiver-id?           uint32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-carrier-id?          uint16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otsi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-carrier-frequency?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|       l0-types:frequency-thz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+--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tx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-channel-power?</a:t>
            </a:r>
          </a:p>
          <a:p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l0-types:power-dbm</a:t>
            </a:r>
          </a:p>
        </p:txBody>
      </p:sp>
    </p:spTree>
    <p:extLst>
      <p:ext uri="{BB962C8B-B14F-4D97-AF65-F5344CB8AC3E}">
        <p14:creationId xmlns:p14="http://schemas.microsoft.com/office/powerpoint/2010/main" val="74975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1759-3126-96D0-5C69-464BA6D93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EE4B8E-4024-3B8C-8ACE-809D7C29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62793"/>
            <a:ext cx="11148753" cy="1795549"/>
          </a:xfrm>
        </p:spPr>
        <p:txBody>
          <a:bodyPr>
            <a:normAutofit/>
          </a:bodyPr>
          <a:lstStyle/>
          <a:p>
            <a:r>
              <a:rPr lang="en-US" dirty="0"/>
              <a:t>Consolidate the basic reference scenarios out of our complete package</a:t>
            </a:r>
          </a:p>
          <a:p>
            <a:r>
              <a:rPr lang="en-US" dirty="0"/>
              <a:t>Address the open issues &amp; WG comments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71A1E-9BE4-7041-6827-CADB1FD37C69}"/>
              </a:ext>
            </a:extLst>
          </p:cNvPr>
          <p:cNvSpPr txBox="1"/>
          <p:nvPr/>
        </p:nvSpPr>
        <p:spPr>
          <a:xfrm>
            <a:off x="780009" y="4073236"/>
            <a:ext cx="112069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000" dirty="0"/>
              <a:t>Weekly team meeting:</a:t>
            </a:r>
          </a:p>
          <a:p>
            <a:pPr lvl="2"/>
            <a:r>
              <a:rPr lang="en-GB" sz="1800" dirty="0"/>
              <a:t>Thursday, 14:00 (CET)</a:t>
            </a:r>
          </a:p>
          <a:p>
            <a:pPr lvl="2"/>
            <a:r>
              <a:rPr lang="en-GB" sz="1800" dirty="0"/>
              <a:t>CCAMP WebEx Details</a:t>
            </a:r>
          </a:p>
          <a:p>
            <a:pPr lvl="3"/>
            <a:r>
              <a:rPr lang="en-GB" sz="1600" dirty="0">
                <a:hlinkClick r:id="rId2"/>
              </a:rPr>
              <a:t>https://ietf.webex.com/ietf/j.php?MTID=ma1ca3bcec716fe1ff93e0a28b3558294</a:t>
            </a:r>
            <a:endParaRPr lang="en-GB" sz="1600" dirty="0"/>
          </a:p>
          <a:p>
            <a:pPr lvl="3"/>
            <a:r>
              <a:rPr lang="en-GB" sz="1600" dirty="0"/>
              <a:t>Join by meeting number </a:t>
            </a:r>
          </a:p>
          <a:p>
            <a:pPr lvl="4"/>
            <a:r>
              <a:rPr lang="en-GB" sz="1600" dirty="0"/>
              <a:t>Meeting number (access code): 2422 698 1495 </a:t>
            </a:r>
          </a:p>
          <a:p>
            <a:pPr lvl="4"/>
            <a:r>
              <a:rPr lang="en-GB" sz="1600" dirty="0"/>
              <a:t>Meeting password: 6UbM2tEJJd6</a:t>
            </a:r>
          </a:p>
        </p:txBody>
      </p:sp>
    </p:spTree>
    <p:extLst>
      <p:ext uri="{BB962C8B-B14F-4D97-AF65-F5344CB8AC3E}">
        <p14:creationId xmlns:p14="http://schemas.microsoft.com/office/powerpoint/2010/main" val="347944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BD8DF-0B67-9892-1FA2-E6E8D319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4">
            <a:extLst>
              <a:ext uri="{FF2B5EF4-FFF2-40B4-BE49-F238E27FC236}">
                <a16:creationId xmlns:a16="http://schemas.microsoft.com/office/drawing/2014/main" id="{5CF8B509-E622-3259-653E-CF8EDD09CBC4}"/>
              </a:ext>
            </a:extLst>
          </p:cNvPr>
          <p:cNvSpPr txBox="1">
            <a:spLocks/>
          </p:cNvSpPr>
          <p:nvPr/>
        </p:nvSpPr>
        <p:spPr>
          <a:xfrm>
            <a:off x="6096000" y="3371353"/>
            <a:ext cx="3202625" cy="1995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300"/>
              </a:spcBef>
            </a:pPr>
            <a:endParaRPr lang="en-US" sz="1900" dirty="0"/>
          </a:p>
          <a:p>
            <a:pPr algn="l">
              <a:spcBef>
                <a:spcPts val="300"/>
              </a:spcBef>
            </a:pPr>
            <a:endParaRPr lang="en-US" sz="19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141B05-DCE5-4BFB-90ED-67295F73BE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03645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4AC3A-4711-7F43-A155-5A0EE452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4">
            <a:extLst>
              <a:ext uri="{FF2B5EF4-FFF2-40B4-BE49-F238E27FC236}">
                <a16:creationId xmlns:a16="http://schemas.microsoft.com/office/drawing/2014/main" id="{5DD8CE98-777B-002B-C29F-E1BBBD2FBD07}"/>
              </a:ext>
            </a:extLst>
          </p:cNvPr>
          <p:cNvSpPr txBox="1">
            <a:spLocks/>
          </p:cNvSpPr>
          <p:nvPr/>
        </p:nvSpPr>
        <p:spPr>
          <a:xfrm>
            <a:off x="6096000" y="3371353"/>
            <a:ext cx="3202625" cy="1995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300"/>
              </a:spcBef>
            </a:pPr>
            <a:endParaRPr lang="en-US" sz="1900" dirty="0"/>
          </a:p>
          <a:p>
            <a:pPr algn="l">
              <a:spcBef>
                <a:spcPts val="300"/>
              </a:spcBef>
            </a:pPr>
            <a:endParaRPr lang="en-US" sz="19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3ED44D-3B65-5DC1-878E-80B9F686B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</p:spTree>
    <p:extLst>
      <p:ext uri="{BB962C8B-B14F-4D97-AF65-F5344CB8AC3E}">
        <p14:creationId xmlns:p14="http://schemas.microsoft.com/office/powerpoint/2010/main" val="260626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3CFD-F54C-C972-8400-1AD5744C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AF34-7136-D3D5-AFAA-38142449C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4408" cy="1325563"/>
          </a:xfrm>
        </p:spPr>
        <p:txBody>
          <a:bodyPr/>
          <a:lstStyle/>
          <a:p>
            <a:r>
              <a:rPr lang="en-GB" dirty="0"/>
              <a:t>Reference Scenario (1) - </a:t>
            </a:r>
            <a:r>
              <a:rPr lang="it-IT" dirty="0"/>
              <a:t>100GE Service with 3R</a:t>
            </a:r>
            <a:endParaRPr lang="en-GB" dirty="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F83568BB-0474-0235-3F1B-3DB705B7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50" y="3897759"/>
            <a:ext cx="5504740" cy="351980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2A1C19EA-0A67-D814-A859-B054708AE4B6}"/>
              </a:ext>
            </a:extLst>
          </p:cNvPr>
          <p:cNvSpPr txBox="1"/>
          <p:nvPr/>
        </p:nvSpPr>
        <p:spPr>
          <a:xfrm>
            <a:off x="7010690" y="3931578"/>
            <a:ext cx="33417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 Transponder</a:t>
            </a:r>
          </a:p>
          <a:p>
            <a:r>
              <a:rPr lang="en-US" sz="1050" dirty="0"/>
              <a:t>Destination Transponder (in reverse signal direction)</a:t>
            </a:r>
          </a:p>
        </p:txBody>
      </p:sp>
      <p:pic>
        <p:nvPicPr>
          <p:cNvPr id="272" name="Picture 271">
            <a:extLst>
              <a:ext uri="{FF2B5EF4-FFF2-40B4-BE49-F238E27FC236}">
                <a16:creationId xmlns:a16="http://schemas.microsoft.com/office/drawing/2014/main" id="{EC9597AC-509D-A6E4-052D-C2E38C587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1" y="4573075"/>
            <a:ext cx="4788963" cy="717506"/>
          </a:xfrm>
          <a:prstGeom prst="rect">
            <a:avLst/>
          </a:prstGeom>
        </p:spPr>
      </p:pic>
      <p:sp>
        <p:nvSpPr>
          <p:cNvPr id="273" name="TextBox 272">
            <a:extLst>
              <a:ext uri="{FF2B5EF4-FFF2-40B4-BE49-F238E27FC236}">
                <a16:creationId xmlns:a16="http://schemas.microsoft.com/office/drawing/2014/main" id="{79DB5C88-9B0C-F5B0-1880-CEC32FF2A7BF}"/>
              </a:ext>
            </a:extLst>
          </p:cNvPr>
          <p:cNvSpPr txBox="1"/>
          <p:nvPr/>
        </p:nvSpPr>
        <p:spPr>
          <a:xfrm>
            <a:off x="6292492" y="5372447"/>
            <a:ext cx="11638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Regen layer: ODU4</a:t>
            </a:r>
          </a:p>
        </p:txBody>
      </p:sp>
      <p:pic>
        <p:nvPicPr>
          <p:cNvPr id="274" name="Picture 273">
            <a:extLst>
              <a:ext uri="{FF2B5EF4-FFF2-40B4-BE49-F238E27FC236}">
                <a16:creationId xmlns:a16="http://schemas.microsoft.com/office/drawing/2014/main" id="{BD1A4B02-9E3C-4A15-B9FB-27AD7B310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620" y="4533172"/>
            <a:ext cx="4061956" cy="757314"/>
          </a:xfrm>
          <a:prstGeom prst="rect">
            <a:avLst/>
          </a:prstGeom>
        </p:spPr>
      </p:pic>
      <p:pic>
        <p:nvPicPr>
          <p:cNvPr id="275" name="Picture 274">
            <a:extLst>
              <a:ext uri="{FF2B5EF4-FFF2-40B4-BE49-F238E27FC236}">
                <a16:creationId xmlns:a16="http://schemas.microsoft.com/office/drawing/2014/main" id="{57CEC16C-F76A-13D3-3F44-79E86C0BC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050" y="4524979"/>
            <a:ext cx="2506437" cy="773700"/>
          </a:xfrm>
          <a:prstGeom prst="rect">
            <a:avLst/>
          </a:prstGeom>
        </p:spPr>
      </p:pic>
      <p:sp>
        <p:nvSpPr>
          <p:cNvPr id="276" name="TextBox 275">
            <a:extLst>
              <a:ext uri="{FF2B5EF4-FFF2-40B4-BE49-F238E27FC236}">
                <a16:creationId xmlns:a16="http://schemas.microsoft.com/office/drawing/2014/main" id="{54E13426-5B35-E492-6FD4-4BD524C9DB8B}"/>
              </a:ext>
            </a:extLst>
          </p:cNvPr>
          <p:cNvSpPr txBox="1"/>
          <p:nvPr/>
        </p:nvSpPr>
        <p:spPr>
          <a:xfrm>
            <a:off x="10444652" y="5343786"/>
            <a:ext cx="9930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Regen layer: OTU4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8BFB934-98CC-3671-E72C-FB36116F56B9}"/>
              </a:ext>
            </a:extLst>
          </p:cNvPr>
          <p:cNvSpPr txBox="1"/>
          <p:nvPr/>
        </p:nvSpPr>
        <p:spPr>
          <a:xfrm>
            <a:off x="2290527" y="5311588"/>
            <a:ext cx="11638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Regen layer: 100GE</a:t>
            </a:r>
          </a:p>
        </p:txBody>
      </p:sp>
      <p:pic>
        <p:nvPicPr>
          <p:cNvPr id="261" name="Picture 260">
            <a:extLst>
              <a:ext uri="{FF2B5EF4-FFF2-40B4-BE49-F238E27FC236}">
                <a16:creationId xmlns:a16="http://schemas.microsoft.com/office/drawing/2014/main" id="{46A22135-3C75-6219-10E5-98CE56766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9380" y="1416473"/>
            <a:ext cx="8376724" cy="239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84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98BB-ED73-DAB8-ADFB-C70E21209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807C-E1C3-BBC9-B2D7-ADEC814D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2" y="127381"/>
            <a:ext cx="11905488" cy="1325563"/>
          </a:xfrm>
        </p:spPr>
        <p:txBody>
          <a:bodyPr/>
          <a:lstStyle/>
          <a:p>
            <a:r>
              <a:rPr lang="en-GB" dirty="0"/>
              <a:t>Reference Scenario (2) – </a:t>
            </a:r>
            <a:r>
              <a:rPr lang="it-IT" dirty="0"/>
              <a:t>4 x 100GE Service with 3R</a:t>
            </a:r>
            <a:endParaRPr lang="en-GB" dirty="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CE1A42FE-9B36-1250-0952-BA746375503D}"/>
              </a:ext>
            </a:extLst>
          </p:cNvPr>
          <p:cNvSpPr txBox="1"/>
          <p:nvPr/>
        </p:nvSpPr>
        <p:spPr>
          <a:xfrm>
            <a:off x="5478244" y="5684715"/>
            <a:ext cx="11638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Regen layer: OTUC4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C02E3B11-A986-B8CC-F7E8-2F861678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73285"/>
            <a:ext cx="8549639" cy="2368353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ADCD419B-E43E-6A81-FF81-63881F880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992" y="3657491"/>
            <a:ext cx="5191732" cy="703273"/>
          </a:xfrm>
          <a:prstGeom prst="rect">
            <a:avLst/>
          </a:prstGeom>
        </p:spPr>
      </p:pic>
      <p:sp>
        <p:nvSpPr>
          <p:cNvPr id="303" name="TextBox 302">
            <a:extLst>
              <a:ext uri="{FF2B5EF4-FFF2-40B4-BE49-F238E27FC236}">
                <a16:creationId xmlns:a16="http://schemas.microsoft.com/office/drawing/2014/main" id="{3DEC540E-8BFF-F43F-9EFE-57A8B2CD7B40}"/>
              </a:ext>
            </a:extLst>
          </p:cNvPr>
          <p:cNvSpPr txBox="1"/>
          <p:nvPr/>
        </p:nvSpPr>
        <p:spPr>
          <a:xfrm>
            <a:off x="7032724" y="3657491"/>
            <a:ext cx="418266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Source </a:t>
            </a:r>
            <a:r>
              <a:rPr lang="en-US" sz="1050" dirty="0" err="1"/>
              <a:t>Muxponder</a:t>
            </a:r>
            <a:endParaRPr lang="en-US" sz="1050" dirty="0"/>
          </a:p>
          <a:p>
            <a:r>
              <a:rPr lang="en-US" sz="1050" dirty="0"/>
              <a:t>Destination </a:t>
            </a:r>
            <a:r>
              <a:rPr lang="en-US" sz="1050" dirty="0" err="1"/>
              <a:t>Muxponder</a:t>
            </a:r>
            <a:r>
              <a:rPr lang="en-US" sz="1050" dirty="0"/>
              <a:t> (in reverse signal direction, can have different digital mapping than the source </a:t>
            </a:r>
            <a:r>
              <a:rPr lang="en-US" sz="1050" dirty="0" err="1"/>
              <a:t>muxponder</a:t>
            </a:r>
            <a:r>
              <a:rPr lang="en-US" sz="1050" dirty="0"/>
              <a:t>)</a:t>
            </a:r>
          </a:p>
        </p:txBody>
      </p:sp>
      <p:pic>
        <p:nvPicPr>
          <p:cNvPr id="467" name="Picture 466">
            <a:extLst>
              <a:ext uri="{FF2B5EF4-FFF2-40B4-BE49-F238E27FC236}">
                <a16:creationId xmlns:a16="http://schemas.microsoft.com/office/drawing/2014/main" id="{B9C8E811-1FC6-044C-ECA4-57662A318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96" y="4475486"/>
            <a:ext cx="5032248" cy="2382514"/>
          </a:xfrm>
          <a:prstGeom prst="rect">
            <a:avLst/>
          </a:prstGeom>
        </p:spPr>
      </p:pic>
      <p:pic>
        <p:nvPicPr>
          <p:cNvPr id="513" name="Picture 512">
            <a:extLst>
              <a:ext uri="{FF2B5EF4-FFF2-40B4-BE49-F238E27FC236}">
                <a16:creationId xmlns:a16="http://schemas.microsoft.com/office/drawing/2014/main" id="{8A1C5F06-C269-3248-7F25-E6E2049BB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256" y="4715267"/>
            <a:ext cx="5289542" cy="896719"/>
          </a:xfrm>
          <a:prstGeom prst="rect">
            <a:avLst/>
          </a:prstGeom>
        </p:spPr>
      </p:pic>
      <p:sp>
        <p:nvSpPr>
          <p:cNvPr id="514" name="TextBox 513">
            <a:extLst>
              <a:ext uri="{FF2B5EF4-FFF2-40B4-BE49-F238E27FC236}">
                <a16:creationId xmlns:a16="http://schemas.microsoft.com/office/drawing/2014/main" id="{F70C93C8-F881-FFB9-6451-3D1DB04D9786}"/>
              </a:ext>
            </a:extLst>
          </p:cNvPr>
          <p:cNvSpPr txBox="1"/>
          <p:nvPr/>
        </p:nvSpPr>
        <p:spPr>
          <a:xfrm>
            <a:off x="8302092" y="5724170"/>
            <a:ext cx="11638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Regen layer: </a:t>
            </a:r>
            <a:r>
              <a:rPr lang="en-US" sz="1050" dirty="0" err="1">
                <a:solidFill>
                  <a:srgbClr val="FF0000"/>
                </a:solidFill>
              </a:rPr>
              <a:t>FlexOnM</a:t>
            </a:r>
            <a:r>
              <a:rPr lang="en-US" sz="1050" dirty="0">
                <a:solidFill>
                  <a:srgbClr val="FF0000"/>
                </a:solidFill>
              </a:rPr>
              <a:t>/</a:t>
            </a:r>
            <a:r>
              <a:rPr lang="en-US" sz="1050" dirty="0" err="1">
                <a:solidFill>
                  <a:srgbClr val="FF0000"/>
                </a:solidFill>
              </a:rPr>
              <a:t>FlexOxR</a:t>
            </a:r>
            <a:endParaRPr lang="en-US" sz="10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665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2A80C-7396-F999-214D-86750C3C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327"/>
            <a:ext cx="10318417" cy="36933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YANG modules impacts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EBE195-1AC5-AE5F-F5F6-46758D5857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4083" y="415632"/>
          <a:ext cx="10515597" cy="423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64">
                  <a:extLst>
                    <a:ext uri="{9D8B030D-6E8A-4147-A177-3AD203B41FA5}">
                      <a16:colId xmlns:a16="http://schemas.microsoft.com/office/drawing/2014/main" val="1237598417"/>
                    </a:ext>
                  </a:extLst>
                </a:gridCol>
                <a:gridCol w="2631057">
                  <a:extLst>
                    <a:ext uri="{9D8B030D-6E8A-4147-A177-3AD203B41FA5}">
                      <a16:colId xmlns:a16="http://schemas.microsoft.com/office/drawing/2014/main" val="3308333654"/>
                    </a:ext>
                  </a:extLst>
                </a:gridCol>
                <a:gridCol w="4064476">
                  <a:extLst>
                    <a:ext uri="{9D8B030D-6E8A-4147-A177-3AD203B41FA5}">
                      <a16:colId xmlns:a16="http://schemas.microsoft.com/office/drawing/2014/main" val="2151371061"/>
                    </a:ext>
                  </a:extLst>
                </a:gridCol>
              </a:tblGrid>
              <a:tr h="940342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draft-ietf-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ccamp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-client-signal-yang (client information)</a:t>
                      </a:r>
                    </a:p>
                  </a:txBody>
                  <a:tcPr>
                    <a:solidFill>
                      <a:schemeClr val="accent1">
                        <a:alpha val="6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draft-ietf-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ccamp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wdm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-tunnel-yang (configuration)</a:t>
                      </a:r>
                    </a:p>
                  </a:txBody>
                  <a:tcPr>
                    <a:solidFill>
                      <a:srgbClr val="92D050">
                        <a:alpha val="4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Optical Impairment topology (capabilities)</a:t>
                      </a:r>
                    </a:p>
                  </a:txBody>
                  <a:tcPr>
                    <a:solidFill>
                      <a:srgbClr val="FFC000">
                        <a:alpha val="4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54986"/>
                  </a:ext>
                </a:extLst>
              </a:tr>
              <a:tr h="658240">
                <a:tc>
                  <a:txBody>
                    <a:bodyPr/>
                    <a:lstStyle/>
                    <a:p>
                      <a:r>
                        <a:rPr lang="en-US" dirty="0"/>
                        <a:t>Client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Multiplexing schema type (e.g. LO-ODU,VLAN etc.))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Inverse Multiplexing types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50386"/>
                  </a:ext>
                </a:extLst>
              </a:tr>
              <a:tr h="658240">
                <a:tc>
                  <a:txBody>
                    <a:bodyPr/>
                    <a:lstStyle/>
                    <a:p>
                      <a:r>
                        <a:rPr lang="en-US" dirty="0"/>
                        <a:t>Digital Mapping (inferred ?)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GMP, GFP-F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Digital-termination-type (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ordered lis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3R regeneration layer supported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556774"/>
                  </a:ext>
                </a:extLst>
              </a:tr>
              <a:tr h="940342">
                <a:tc>
                  <a:txBody>
                    <a:bodyPr/>
                    <a:lstStyle/>
                    <a:p>
                      <a:r>
                        <a:rPr lang="en-US" dirty="0"/>
                        <a:t>Multiplexing label value(s) 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e.g.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tsg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tpn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 in case of OTN</a:t>
                      </a:r>
                      <a:r>
                        <a:rPr lang="en-US" dirty="0">
                          <a:sym typeface="Wingdings" panose="05000000000000000000" pitchFamily="2" charset="2"/>
                        </a:rPr>
                        <a:t>))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3R regeneration layer (list in the tunnel, single value for an hop in the ERO)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List of multiplexing schema types supported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905271"/>
                  </a:ext>
                </a:extLst>
              </a:tr>
              <a:tr h="6582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Inverse Multiplexing types (single 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Digital-termination-types supported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821536"/>
                  </a:ext>
                </a:extLst>
              </a:tr>
              <a:tr h="38136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060305"/>
                  </a:ext>
                </a:extLst>
              </a:tr>
            </a:tbl>
          </a:graphicData>
        </a:graphic>
      </p:graphicFrame>
      <p:sp>
        <p:nvSpPr>
          <p:cNvPr id="6" name="Right Brace 5">
            <a:extLst>
              <a:ext uri="{FF2B5EF4-FFF2-40B4-BE49-F238E27FC236}">
                <a16:creationId xmlns:a16="http://schemas.microsoft.com/office/drawing/2014/main" id="{2ADE1711-8CFA-4995-ACDF-FD2A576231FA}"/>
              </a:ext>
            </a:extLst>
          </p:cNvPr>
          <p:cNvSpPr/>
          <p:nvPr/>
        </p:nvSpPr>
        <p:spPr>
          <a:xfrm rot="5400000">
            <a:off x="7623384" y="843524"/>
            <a:ext cx="369334" cy="669713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5A91A00-7364-41D4-A5F2-010CC1AD94B4}"/>
              </a:ext>
            </a:extLst>
          </p:cNvPr>
          <p:cNvSpPr/>
          <p:nvPr/>
        </p:nvSpPr>
        <p:spPr>
          <a:xfrm rot="5400000">
            <a:off x="2290051" y="2282856"/>
            <a:ext cx="369333" cy="3818466"/>
          </a:xfrm>
          <a:prstGeom prst="rightBrace">
            <a:avLst>
              <a:gd name="adj1" fmla="val 1521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1C638-0765-4801-8181-E3131908CFA4}"/>
              </a:ext>
            </a:extLst>
          </p:cNvPr>
          <p:cNvSpPr txBox="1"/>
          <p:nvPr/>
        </p:nvSpPr>
        <p:spPr>
          <a:xfrm>
            <a:off x="1318374" y="4283066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Signal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YANG</a:t>
            </a:r>
            <a:endParaRPr kumimoji="0" lang="it-IT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DDC06-E1E8-4EE8-867A-493FD4A61D5A}"/>
              </a:ext>
            </a:extLst>
          </p:cNvPr>
          <p:cNvSpPr txBox="1"/>
          <p:nvPr/>
        </p:nvSpPr>
        <p:spPr>
          <a:xfrm>
            <a:off x="6250906" y="4215920"/>
            <a:ext cx="3951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WDM Tunnel YANG model + OI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topology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F5E3F-968C-31CB-AB8B-7B03926EFA6D}"/>
              </a:ext>
            </a:extLst>
          </p:cNvPr>
          <p:cNvSpPr txBox="1"/>
          <p:nvPr/>
        </p:nvSpPr>
        <p:spPr>
          <a:xfrm>
            <a:off x="570688" y="4821367"/>
            <a:ext cx="107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0C0C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LEGENDA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29208-0CB7-8A43-E00F-C23B525D01BA}"/>
              </a:ext>
            </a:extLst>
          </p:cNvPr>
          <p:cNvSpPr txBox="1"/>
          <p:nvPr/>
        </p:nvSpPr>
        <p:spPr>
          <a:xfrm>
            <a:off x="704675" y="5151002"/>
            <a:ext cx="1120576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Multiplexing schema type: identifies the type of multiplexing technology used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e.g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ODUj,K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Mapping: identifies the mapping technology used to map the client ETH signal (e.g. OTN, VLAN)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(GMP, GFP-F)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Payload: identifies the client signal that will be carried by WDM tunnel (e.g. 100GE, 400GE, etc.)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Multiplexing label value(s): identifies which multiplexing slot(s) are used by the client (if OTN tributary slot/tributary port number)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Digital termination type: identifies the type of the multiplexing container (e.g. ODUC4)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(1)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3R reg list as constraints for tunnel, single value for transceiver configuration in the ERO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7D378-B3BF-4464-96C4-C143CA327C01}"/>
              </a:ext>
            </a:extLst>
          </p:cNvPr>
          <p:cNvSpPr txBox="1"/>
          <p:nvPr/>
        </p:nvSpPr>
        <p:spPr>
          <a:xfrm>
            <a:off x="8441094" y="161731"/>
            <a:ext cx="35377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align and merge with previous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3F07B49-1DA8-461D-B497-42660885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382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3045</TotalTime>
  <Words>1491</Words>
  <Application>Microsoft Office PowerPoint</Application>
  <PresentationFormat>Widescreen</PresentationFormat>
  <Paragraphs>206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Courier New</vt:lpstr>
      <vt:lpstr>Wingdings</vt:lpstr>
      <vt:lpstr>Office Theme</vt:lpstr>
      <vt:lpstr>A YANG Data Model for WDM Tunnels</vt:lpstr>
      <vt:lpstr>Summary of Updates in -05</vt:lpstr>
      <vt:lpstr>Open Issues &amp; Ongoing discussion</vt:lpstr>
      <vt:lpstr>Defining “Incoming” and “Outgoing” Transponder in Regenerator Scenarios</vt:lpstr>
      <vt:lpstr>Consistent Transponder Configurations at Source, Destination and Regenerator</vt:lpstr>
      <vt:lpstr>Next Steps</vt:lpstr>
      <vt:lpstr>Thank you!</vt:lpstr>
      <vt:lpstr>Backup</vt:lpstr>
      <vt:lpstr>Reference Scenario (1) - 100GE Service with 3R</vt:lpstr>
      <vt:lpstr>Reference Scenario (2) – 4 x 100GE Service with 3R</vt:lpstr>
      <vt:lpstr>YANG modules impacts (1)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Italo Busi</dc:creator>
  <cp:lastModifiedBy>Aihua Guo</cp:lastModifiedBy>
  <cp:revision>74</cp:revision>
  <dcterms:created xsi:type="dcterms:W3CDTF">2023-01-19T13:29:30Z</dcterms:created>
  <dcterms:modified xsi:type="dcterms:W3CDTF">2025-10-27T15:28:45Z</dcterms:modified>
</cp:coreProperties>
</file>